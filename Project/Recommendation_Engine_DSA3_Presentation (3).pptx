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2" r:id="rId1"/>
  </p:sldMasterIdLst>
  <p:sldIdLst>
    <p:sldId id="256" r:id="rId2"/>
    <p:sldId id="258" r:id="rId3"/>
    <p:sldId id="257"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54095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2827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6399281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590189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62826872"/>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9104243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085245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9942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1351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9130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0253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C1FF6DA9-008F-8B48-92A6-B652298478BF}" type="slidenum">
              <a:rPr lang="en-US" smtClean="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29751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C1FF6DA9-008F-8B48-92A6-B652298478BF}"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43142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410649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00024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C1FF6DA9-008F-8B48-92A6-B652298478BF}" type="slidenum">
              <a:rPr lang="en-US" smtClean="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3487351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C1FF6DA9-008F-8B48-92A6-B652298478BF}" type="slidenum">
              <a:rPr lang="en-US" smtClean="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60520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733377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48466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71076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77417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2E940BF-81C2-1FFB-391F-670B2E738E5C}"/>
              </a:ext>
            </a:extLst>
          </p:cNvPr>
          <p:cNvSpPr>
            <a:spLocks noGrp="1"/>
          </p:cNvSpPr>
          <p:nvPr>
            <p:ph sz="quarter" idx="15"/>
          </p:nvPr>
        </p:nvSpPr>
        <p:spPr>
          <a:xfrm>
            <a:off x="182880" y="1645920"/>
            <a:ext cx="5420409"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FB763AB3-1DFB-9F9F-2339-33F3C49C8C10}"/>
              </a:ext>
            </a:extLst>
          </p:cNvPr>
          <p:cNvSpPr>
            <a:spLocks noGrp="1"/>
          </p:cNvSpPr>
          <p:nvPr>
            <p:ph sz="quarter" idx="16"/>
          </p:nvPr>
        </p:nvSpPr>
        <p:spPr>
          <a:xfrm>
            <a:off x="6248400" y="1645920"/>
            <a:ext cx="5261184"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27615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D6A39E64-722E-F001-F641-974F5225314A}"/>
              </a:ext>
            </a:extLst>
          </p:cNvPr>
          <p:cNvSpPr>
            <a:spLocks noGrp="1"/>
          </p:cNvSpPr>
          <p:nvPr>
            <p:ph sz="quarter" idx="15"/>
          </p:nvPr>
        </p:nvSpPr>
        <p:spPr>
          <a:xfrm>
            <a:off x="181631"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4B9C0BFD-5C7B-FA0D-DCE8-95D24728FEB0}"/>
              </a:ext>
            </a:extLst>
          </p:cNvPr>
          <p:cNvSpPr>
            <a:spLocks noGrp="1"/>
          </p:cNvSpPr>
          <p:nvPr>
            <p:ph sz="quarter" idx="16"/>
          </p:nvPr>
        </p:nvSpPr>
        <p:spPr>
          <a:xfrm>
            <a:off x="6245352"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93068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367682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5114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55701976"/>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596370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5BCAD085-E8A6-8845-BD4E-CB4CCA059FC4}" type="datetimeFigureOut">
              <a:rPr lang="en-US" smtClean="0"/>
              <a:t>8/20/2026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17281750"/>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796" r:id="rId24"/>
    <p:sldLayoutId id="2147483797" r:id="rId25"/>
    <p:sldLayoutId id="2147483798" r:id="rId26"/>
    <p:sldLayoutId id="2147483799" r:id="rId27"/>
  </p:sldLayoutIdLst>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E4D8"/>
        </a:solidFill>
        <a:effectLst/>
      </p:bgPr>
    </p:bg>
    <p:spTree>
      <p:nvGrpSpPr>
        <p:cNvPr id="1" name=""/>
        <p:cNvGrpSpPr/>
        <p:nvPr/>
      </p:nvGrpSpPr>
      <p:grpSpPr>
        <a:xfrm>
          <a:off x="0" y="0"/>
          <a:ext cx="0" cy="0"/>
          <a:chOff x="0" y="0"/>
          <a:chExt cx="0" cy="0"/>
        </a:xfrm>
      </p:grpSpPr>
      <p:sp>
        <p:nvSpPr>
          <p:cNvPr id="2" name="Rectangle 1"/>
          <p:cNvSpPr/>
          <p:nvPr/>
        </p:nvSpPr>
        <p:spPr>
          <a:xfrm>
            <a:off x="0" y="0"/>
            <a:ext cx="27432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68680" y="1371599"/>
            <a:ext cx="1005840" cy="1005840"/>
          </a:xfrm>
          <a:prstGeom prst="ellipse">
            <a:avLst/>
          </a:prstGeom>
          <a:noFill/>
          <a:ln w="15240">
            <a:solidFill>
              <a:srgbClr val="F7CD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85800" y="1188719"/>
            <a:ext cx="1371600" cy="1371600"/>
          </a:xfrm>
          <a:prstGeom prst="ellipse">
            <a:avLst/>
          </a:prstGeom>
          <a:noFill/>
          <a:ln w="15240">
            <a:solidFill>
              <a:srgbClr val="F7CD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02920" y="1005839"/>
            <a:ext cx="1737360" cy="1737360"/>
          </a:xfrm>
          <a:prstGeom prst="ellipse">
            <a:avLst/>
          </a:prstGeom>
          <a:noFill/>
          <a:ln w="15240">
            <a:solidFill>
              <a:srgbClr val="F7CD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320040" y="822959"/>
            <a:ext cx="2103120" cy="2103120"/>
          </a:xfrm>
          <a:prstGeom prst="ellipse">
            <a:avLst/>
          </a:prstGeom>
          <a:noFill/>
          <a:ln w="15240">
            <a:solidFill>
              <a:srgbClr val="F7CD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54680" y="1234440"/>
            <a:ext cx="8412480" cy="1463040"/>
          </a:xfrm>
          <a:prstGeom prst="rect">
            <a:avLst/>
          </a:prstGeom>
          <a:noFill/>
        </p:spPr>
        <p:txBody>
          <a:bodyPr wrap="none">
            <a:spAutoFit/>
          </a:bodyPr>
          <a:lstStyle/>
          <a:p>
            <a:pPr algn="ctr">
              <a:defRPr sz="3800" b="1">
                <a:solidFill>
                  <a:srgbClr val="D62310"/>
                </a:solidFill>
                <a:latin typeface="Georgia"/>
              </a:defRPr>
            </a:pPr>
            <a:r>
              <a:rPr dirty="0"/>
              <a:t>Recommendation Engine</a:t>
            </a:r>
          </a:p>
          <a:p>
            <a:pPr algn="ctr">
              <a:defRPr sz="2200">
                <a:solidFill>
                  <a:srgbClr val="232323"/>
                </a:solidFill>
                <a:latin typeface="Arial"/>
              </a:defRPr>
            </a:pPr>
            <a:r>
              <a:rPr dirty="0"/>
              <a:t>Data Structures and Algorithms - 3</a:t>
            </a:r>
          </a:p>
        </p:txBody>
      </p:sp>
      <p:sp>
        <p:nvSpPr>
          <p:cNvPr id="8" name="Rounded Rectangle 7"/>
          <p:cNvSpPr/>
          <p:nvPr/>
        </p:nvSpPr>
        <p:spPr>
          <a:xfrm>
            <a:off x="3794760" y="2971800"/>
            <a:ext cx="7132320" cy="150876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Project Team</a:t>
            </a:r>
          </a:p>
          <a:p>
            <a:pPr>
              <a:defRPr sz="1500">
                <a:solidFill>
                  <a:srgbClr val="232323"/>
                </a:solidFill>
                <a:latin typeface="Arial"/>
              </a:defRPr>
            </a:pPr>
            <a:r>
              <a:t>P. Praveena (2520090057)</a:t>
            </a:r>
            <a:br/>
            <a:r>
              <a:t>D. Varun Teja Reddy (2520090221)</a:t>
            </a:r>
            <a:br/>
            <a:r>
              <a:t>P. Akhil Yadav (2520090155)</a:t>
            </a:r>
          </a:p>
        </p:txBody>
      </p:sp>
      <p:sp>
        <p:nvSpPr>
          <p:cNvPr id="9" name="Rounded Rectangle 8"/>
          <p:cNvSpPr/>
          <p:nvPr/>
        </p:nvSpPr>
        <p:spPr>
          <a:xfrm>
            <a:off x="3794760" y="4663440"/>
            <a:ext cx="7132320" cy="100584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Academic Details</a:t>
            </a:r>
          </a:p>
          <a:p>
            <a:pPr>
              <a:defRPr sz="1500">
                <a:solidFill>
                  <a:srgbClr val="232323"/>
                </a:solidFill>
                <a:latin typeface="Arial"/>
              </a:defRPr>
            </a:pPr>
            <a:r>
              <a:t>Team Number: 16   |   Section: 13</a:t>
            </a:r>
            <a:br/>
            <a:r>
              <a:t>A.Y. 2026–2027   |   Guide: Dr. Dyuti Banerjee</a:t>
            </a:r>
          </a:p>
        </p:txBody>
      </p:sp>
      <p:sp>
        <p:nvSpPr>
          <p:cNvPr id="10" name="TextBox 9"/>
          <p:cNvSpPr txBox="1"/>
          <p:nvPr/>
        </p:nvSpPr>
        <p:spPr>
          <a:xfrm>
            <a:off x="548640" y="6473952"/>
            <a:ext cx="11064240" cy="201168"/>
          </a:xfrm>
          <a:prstGeom prst="rect">
            <a:avLst/>
          </a:prstGeom>
          <a:noFill/>
        </p:spPr>
        <p:txBody>
          <a:bodyPr wrap="none">
            <a:spAutoFit/>
          </a:bodyPr>
          <a:lstStyle/>
          <a:p>
            <a:pPr algn="ctr">
              <a:defRPr sz="850">
                <a:solidFill>
                  <a:srgbClr val="695246"/>
                </a:solidFill>
                <a:latin typeface="Arial"/>
              </a:defRPr>
            </a:pPr>
            <a:r>
              <a:rPr dirty="0"/>
              <a:t>Data Structures and Algorithms - 3 (25CS2103E)   |   Team 16   |   Slide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E4D8"/>
        </a:solidFill>
        <a:effectLst/>
      </p:bgPr>
    </p:bg>
    <p:spTree>
      <p:nvGrpSpPr>
        <p:cNvPr id="1" name=""/>
        <p:cNvGrpSpPr/>
        <p:nvPr/>
      </p:nvGrpSpPr>
      <p:grpSpPr>
        <a:xfrm>
          <a:off x="0" y="0"/>
          <a:ext cx="0" cy="0"/>
          <a:chOff x="0" y="0"/>
          <a:chExt cx="0" cy="0"/>
        </a:xfrm>
      </p:grpSpPr>
      <p:sp>
        <p:nvSpPr>
          <p:cNvPr id="2" name="Rounded Rectangle 1"/>
          <p:cNvSpPr/>
          <p:nvPr/>
        </p:nvSpPr>
        <p:spPr>
          <a:xfrm>
            <a:off x="502920" y="228600"/>
            <a:ext cx="11155680" cy="658368"/>
          </a:xfrm>
          <a:prstGeom prst="roundRect">
            <a:avLst/>
          </a:prstGeom>
          <a:solidFill>
            <a:srgbClr val="D62310"/>
          </a:solidFill>
          <a:ln>
            <a:solidFill>
              <a:srgbClr val="78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FFFFFF"/>
                </a:solidFill>
                <a:latin typeface="Georgia"/>
              </a:defRPr>
            </a:pPr>
            <a:r>
              <a:t>Abstract</a:t>
            </a:r>
          </a:p>
        </p:txBody>
      </p:sp>
      <p:sp>
        <p:nvSpPr>
          <p:cNvPr id="3" name="TextBox 2"/>
          <p:cNvSpPr txBox="1"/>
          <p:nvPr/>
        </p:nvSpPr>
        <p:spPr>
          <a:xfrm>
            <a:off x="822960" y="1234440"/>
            <a:ext cx="10607040" cy="4892040"/>
          </a:xfrm>
          <a:prstGeom prst="rect">
            <a:avLst/>
          </a:prstGeom>
          <a:noFill/>
        </p:spPr>
        <p:txBody>
          <a:bodyPr wrap="square">
            <a:spAutoFit/>
          </a:bodyPr>
          <a:lstStyle/>
          <a:p>
            <a:pPr>
              <a:spcAft>
                <a:spcPts val="1500"/>
              </a:spcAft>
              <a:defRPr sz="1800">
                <a:solidFill>
                  <a:srgbClr val="232323"/>
                </a:solidFill>
                <a:latin typeface="Arial"/>
              </a:defRPr>
            </a:pPr>
            <a:r>
              <a:t>Online platforms provide a very large amount of products, movies, courses, books and other content. This makes it difficult for users to find relevant items quickly.</a:t>
            </a:r>
          </a:p>
          <a:p>
            <a:pPr>
              <a:spcAft>
                <a:spcPts val="1500"/>
              </a:spcAft>
              <a:defRPr sz="1800">
                <a:solidFill>
                  <a:srgbClr val="232323"/>
                </a:solidFill>
                <a:latin typeface="Arial"/>
              </a:defRPr>
            </a:pPr>
            <a:r>
              <a:t>The proposed Recommendation Engine suggests related items based on user interests and preferences. User information and available items are stored using lists and dictionaries. Searching is used to find matching items, while sorting displays the best recommendations.</a:t>
            </a:r>
          </a:p>
          <a:p>
            <a:pPr>
              <a:spcAft>
                <a:spcPts val="1500"/>
              </a:spcAft>
              <a:defRPr sz="1800">
                <a:solidFill>
                  <a:srgbClr val="232323"/>
                </a:solidFill>
                <a:latin typeface="Arial"/>
              </a:defRPr>
            </a:pPr>
            <a:r>
              <a:t>The main aim is to provide useful recommendations in less time, improve user experience, and demonstrate how basic data structures and algorithms can solve a real-world problem.</a:t>
            </a:r>
          </a:p>
        </p:txBody>
      </p:sp>
      <p:sp>
        <p:nvSpPr>
          <p:cNvPr id="4" name="TextBox 3"/>
          <p:cNvSpPr txBox="1"/>
          <p:nvPr/>
        </p:nvSpPr>
        <p:spPr>
          <a:xfrm>
            <a:off x="548640" y="6473952"/>
            <a:ext cx="11064240" cy="201168"/>
          </a:xfrm>
          <a:prstGeom prst="rect">
            <a:avLst/>
          </a:prstGeom>
          <a:noFill/>
        </p:spPr>
        <p:txBody>
          <a:bodyPr wrap="none">
            <a:spAutoFit/>
          </a:bodyPr>
          <a:lstStyle/>
          <a:p>
            <a:pPr algn="ctr">
              <a:defRPr sz="850">
                <a:solidFill>
                  <a:srgbClr val="695246"/>
                </a:solidFill>
                <a:latin typeface="Arial"/>
              </a:defRPr>
            </a:pPr>
            <a:r>
              <a:t>Data Structures and Algorithms - 3 (25CS2103E)   |   Team 16   |   Slide 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E4D8"/>
        </a:solidFill>
        <a:effectLst/>
      </p:bgPr>
    </p:bg>
    <p:spTree>
      <p:nvGrpSpPr>
        <p:cNvPr id="1" name=""/>
        <p:cNvGrpSpPr/>
        <p:nvPr/>
      </p:nvGrpSpPr>
      <p:grpSpPr>
        <a:xfrm>
          <a:off x="0" y="0"/>
          <a:ext cx="0" cy="0"/>
          <a:chOff x="0" y="0"/>
          <a:chExt cx="0" cy="0"/>
        </a:xfrm>
      </p:grpSpPr>
      <p:sp>
        <p:nvSpPr>
          <p:cNvPr id="2" name="Rounded Rectangle 1"/>
          <p:cNvSpPr/>
          <p:nvPr/>
        </p:nvSpPr>
        <p:spPr>
          <a:xfrm>
            <a:off x="502920" y="228600"/>
            <a:ext cx="11155680" cy="658368"/>
          </a:xfrm>
          <a:prstGeom prst="roundRect">
            <a:avLst/>
          </a:prstGeom>
          <a:solidFill>
            <a:srgbClr val="D62310"/>
          </a:solidFill>
          <a:ln>
            <a:solidFill>
              <a:srgbClr val="78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FFFFFF"/>
                </a:solidFill>
                <a:latin typeface="Georgia"/>
              </a:defRPr>
            </a:pPr>
            <a:r>
              <a:t>Contents</a:t>
            </a:r>
          </a:p>
        </p:txBody>
      </p:sp>
      <p:sp>
        <p:nvSpPr>
          <p:cNvPr id="3" name="TextBox 2"/>
          <p:cNvSpPr txBox="1"/>
          <p:nvPr/>
        </p:nvSpPr>
        <p:spPr>
          <a:xfrm>
            <a:off x="1005840" y="1234440"/>
            <a:ext cx="10058400" cy="5029200"/>
          </a:xfrm>
          <a:prstGeom prst="rect">
            <a:avLst/>
          </a:prstGeom>
          <a:noFill/>
        </p:spPr>
        <p:txBody>
          <a:bodyPr wrap="square">
            <a:spAutoFit/>
          </a:bodyPr>
          <a:lstStyle/>
          <a:p>
            <a:pPr>
              <a:spcAft>
                <a:spcPts val="1400"/>
              </a:spcAft>
              <a:defRPr sz="2000">
                <a:solidFill>
                  <a:srgbClr val="232323"/>
                </a:solidFill>
                <a:latin typeface="Arial"/>
              </a:defRPr>
            </a:pPr>
            <a:r>
              <a:t>• Abstract</a:t>
            </a:r>
          </a:p>
          <a:p>
            <a:pPr>
              <a:spcAft>
                <a:spcPts val="1400"/>
              </a:spcAft>
              <a:defRPr sz="2000">
                <a:solidFill>
                  <a:srgbClr val="232323"/>
                </a:solidFill>
                <a:latin typeface="Arial"/>
              </a:defRPr>
            </a:pPr>
            <a:r>
              <a:t>• Introduction</a:t>
            </a:r>
          </a:p>
          <a:p>
            <a:pPr>
              <a:spcAft>
                <a:spcPts val="1400"/>
              </a:spcAft>
              <a:defRPr sz="2000">
                <a:solidFill>
                  <a:srgbClr val="232323"/>
                </a:solidFill>
                <a:latin typeface="Arial"/>
              </a:defRPr>
            </a:pPr>
            <a:r>
              <a:t>• Literature Survey</a:t>
            </a:r>
          </a:p>
          <a:p>
            <a:pPr>
              <a:spcAft>
                <a:spcPts val="1400"/>
              </a:spcAft>
              <a:defRPr sz="2000">
                <a:solidFill>
                  <a:srgbClr val="232323"/>
                </a:solidFill>
                <a:latin typeface="Arial"/>
              </a:defRPr>
            </a:pPr>
            <a:r>
              <a:t>• Problem Statement and Objectives</a:t>
            </a:r>
          </a:p>
          <a:p>
            <a:pPr>
              <a:spcAft>
                <a:spcPts val="1400"/>
              </a:spcAft>
              <a:defRPr sz="2000">
                <a:solidFill>
                  <a:srgbClr val="232323"/>
                </a:solidFill>
                <a:latin typeface="Arial"/>
              </a:defRPr>
            </a:pPr>
            <a:r>
              <a:t>• Hardware and Software Requirements</a:t>
            </a:r>
          </a:p>
          <a:p>
            <a:pPr>
              <a:spcAft>
                <a:spcPts val="1400"/>
              </a:spcAft>
              <a:defRPr sz="2000">
                <a:solidFill>
                  <a:srgbClr val="232323"/>
                </a:solidFill>
                <a:latin typeface="Arial"/>
              </a:defRPr>
            </a:pPr>
            <a:r>
              <a:t>• Results</a:t>
            </a:r>
          </a:p>
          <a:p>
            <a:pPr>
              <a:spcAft>
                <a:spcPts val="1400"/>
              </a:spcAft>
              <a:defRPr sz="2000">
                <a:solidFill>
                  <a:srgbClr val="232323"/>
                </a:solidFill>
                <a:latin typeface="Arial"/>
              </a:defRPr>
            </a:pPr>
            <a:r>
              <a:t>• Conclusion</a:t>
            </a:r>
          </a:p>
          <a:p>
            <a:pPr>
              <a:spcAft>
                <a:spcPts val="1400"/>
              </a:spcAft>
              <a:defRPr sz="2000">
                <a:solidFill>
                  <a:srgbClr val="232323"/>
                </a:solidFill>
                <a:latin typeface="Arial"/>
              </a:defRPr>
            </a:pPr>
            <a:r>
              <a:t>• Future Scope</a:t>
            </a:r>
          </a:p>
        </p:txBody>
      </p:sp>
      <p:sp>
        <p:nvSpPr>
          <p:cNvPr id="4" name="TextBox 3"/>
          <p:cNvSpPr txBox="1"/>
          <p:nvPr/>
        </p:nvSpPr>
        <p:spPr>
          <a:xfrm>
            <a:off x="548640" y="6473952"/>
            <a:ext cx="11064240" cy="201168"/>
          </a:xfrm>
          <a:prstGeom prst="rect">
            <a:avLst/>
          </a:prstGeom>
          <a:noFill/>
        </p:spPr>
        <p:txBody>
          <a:bodyPr wrap="none">
            <a:spAutoFit/>
          </a:bodyPr>
          <a:lstStyle/>
          <a:p>
            <a:pPr algn="ctr">
              <a:defRPr sz="850">
                <a:solidFill>
                  <a:srgbClr val="695246"/>
                </a:solidFill>
                <a:latin typeface="Arial"/>
              </a:defRPr>
            </a:pPr>
            <a:r>
              <a:t>Data Structures and Algorithms - 3 (25CS2103E)   |   Team 16   |   Slide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E4D8"/>
        </a:solidFill>
        <a:effectLst/>
      </p:bgPr>
    </p:bg>
    <p:spTree>
      <p:nvGrpSpPr>
        <p:cNvPr id="1" name=""/>
        <p:cNvGrpSpPr/>
        <p:nvPr/>
      </p:nvGrpSpPr>
      <p:grpSpPr>
        <a:xfrm>
          <a:off x="0" y="0"/>
          <a:ext cx="0" cy="0"/>
          <a:chOff x="0" y="0"/>
          <a:chExt cx="0" cy="0"/>
        </a:xfrm>
      </p:grpSpPr>
      <p:sp>
        <p:nvSpPr>
          <p:cNvPr id="2" name="Rounded Rectangle 1"/>
          <p:cNvSpPr/>
          <p:nvPr/>
        </p:nvSpPr>
        <p:spPr>
          <a:xfrm>
            <a:off x="502920" y="228600"/>
            <a:ext cx="11155680" cy="658368"/>
          </a:xfrm>
          <a:prstGeom prst="roundRect">
            <a:avLst/>
          </a:prstGeom>
          <a:solidFill>
            <a:srgbClr val="D62310"/>
          </a:solidFill>
          <a:ln>
            <a:solidFill>
              <a:srgbClr val="78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FFFFFF"/>
                </a:solidFill>
                <a:latin typeface="Georgia"/>
              </a:defRPr>
            </a:pPr>
            <a:r>
              <a:t>Introduction</a:t>
            </a:r>
          </a:p>
        </p:txBody>
      </p:sp>
      <p:sp>
        <p:nvSpPr>
          <p:cNvPr id="3" name="Rounded Rectangle 2"/>
          <p:cNvSpPr/>
          <p:nvPr/>
        </p:nvSpPr>
        <p:spPr>
          <a:xfrm>
            <a:off x="731520" y="1325880"/>
            <a:ext cx="5303520" cy="182880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What is a Recommendation Engine?</a:t>
            </a:r>
          </a:p>
          <a:p>
            <a:pPr>
              <a:defRPr sz="1500">
                <a:solidFill>
                  <a:srgbClr val="232323"/>
                </a:solidFill>
                <a:latin typeface="Arial"/>
              </a:defRPr>
            </a:pPr>
            <a:r>
              <a:t>A system that suggests products, movies, books, courses or other items according to a user's interests.</a:t>
            </a:r>
          </a:p>
        </p:txBody>
      </p:sp>
      <p:sp>
        <p:nvSpPr>
          <p:cNvPr id="4" name="Rounded Rectangle 3"/>
          <p:cNvSpPr/>
          <p:nvPr/>
        </p:nvSpPr>
        <p:spPr>
          <a:xfrm>
            <a:off x="6172200" y="1325880"/>
            <a:ext cx="5303520" cy="182880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Why is it needed?</a:t>
            </a:r>
          </a:p>
          <a:p>
            <a:pPr>
              <a:defRPr sz="1500">
                <a:solidFill>
                  <a:srgbClr val="232323"/>
                </a:solidFill>
                <a:latin typeface="Arial"/>
              </a:defRPr>
            </a:pPr>
            <a:r>
              <a:t>Modern websites and applications contain thousands of choices. Finding the right item can be difficult and time-consuming.</a:t>
            </a:r>
          </a:p>
        </p:txBody>
      </p:sp>
      <p:sp>
        <p:nvSpPr>
          <p:cNvPr id="5" name="Rounded Rectangle 4"/>
          <p:cNvSpPr/>
          <p:nvPr/>
        </p:nvSpPr>
        <p:spPr>
          <a:xfrm>
            <a:off x="731520" y="3429000"/>
            <a:ext cx="10744200" cy="192024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How this project works</a:t>
            </a:r>
          </a:p>
          <a:p>
            <a:pPr>
              <a:defRPr sz="1500">
                <a:solidFill>
                  <a:srgbClr val="232323"/>
                </a:solidFill>
                <a:latin typeface="Arial"/>
              </a:defRPr>
            </a:pPr>
            <a:r>
              <a:t>User interests are stored using lists and dictionaries. The system searches for matching items and sorts them before displaying recommendations.</a:t>
            </a:r>
          </a:p>
        </p:txBody>
      </p:sp>
      <p:sp>
        <p:nvSpPr>
          <p:cNvPr id="6" name="TextBox 5"/>
          <p:cNvSpPr txBox="1"/>
          <p:nvPr/>
        </p:nvSpPr>
        <p:spPr>
          <a:xfrm>
            <a:off x="548640" y="6473952"/>
            <a:ext cx="11064240" cy="201168"/>
          </a:xfrm>
          <a:prstGeom prst="rect">
            <a:avLst/>
          </a:prstGeom>
          <a:noFill/>
        </p:spPr>
        <p:txBody>
          <a:bodyPr wrap="none">
            <a:spAutoFit/>
          </a:bodyPr>
          <a:lstStyle/>
          <a:p>
            <a:pPr algn="ctr">
              <a:defRPr sz="850">
                <a:solidFill>
                  <a:srgbClr val="695246"/>
                </a:solidFill>
                <a:latin typeface="Arial"/>
              </a:defRPr>
            </a:pPr>
            <a:r>
              <a:t>Data Structures and Algorithms - 3 (25CS2103E)   |   Team 16   |   Slide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E4D8"/>
        </a:solidFill>
        <a:effectLst/>
      </p:bgPr>
    </p:bg>
    <p:spTree>
      <p:nvGrpSpPr>
        <p:cNvPr id="1" name=""/>
        <p:cNvGrpSpPr/>
        <p:nvPr/>
      </p:nvGrpSpPr>
      <p:grpSpPr>
        <a:xfrm>
          <a:off x="0" y="0"/>
          <a:ext cx="0" cy="0"/>
          <a:chOff x="0" y="0"/>
          <a:chExt cx="0" cy="0"/>
        </a:xfrm>
      </p:grpSpPr>
      <p:sp>
        <p:nvSpPr>
          <p:cNvPr id="2" name="Rounded Rectangle 1"/>
          <p:cNvSpPr/>
          <p:nvPr/>
        </p:nvSpPr>
        <p:spPr>
          <a:xfrm>
            <a:off x="502920" y="228600"/>
            <a:ext cx="11155680" cy="658368"/>
          </a:xfrm>
          <a:prstGeom prst="roundRect">
            <a:avLst/>
          </a:prstGeom>
          <a:solidFill>
            <a:srgbClr val="D62310"/>
          </a:solidFill>
          <a:ln>
            <a:solidFill>
              <a:srgbClr val="78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FFFFFF"/>
                </a:solidFill>
                <a:latin typeface="Georgia"/>
              </a:defRPr>
            </a:pPr>
            <a:r>
              <a:t>Literature Survey</a:t>
            </a:r>
          </a:p>
        </p:txBody>
      </p:sp>
      <p:sp>
        <p:nvSpPr>
          <p:cNvPr id="3" name="Rounded Rectangle 2"/>
          <p:cNvSpPr/>
          <p:nvPr/>
        </p:nvSpPr>
        <p:spPr>
          <a:xfrm>
            <a:off x="822960" y="1325880"/>
            <a:ext cx="10515600" cy="155448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Source-based note</a:t>
            </a:r>
          </a:p>
          <a:p>
            <a:pPr>
              <a:defRPr sz="1500">
                <a:solidFill>
                  <a:srgbClr val="232323"/>
                </a:solidFill>
                <a:latin typeface="Arial"/>
              </a:defRPr>
            </a:pPr>
            <a:r>
              <a:t>The provided project abstract does not contain a literature survey or paper references. Therefore, no specific studies are added here without source support.</a:t>
            </a:r>
          </a:p>
        </p:txBody>
      </p:sp>
      <p:sp>
        <p:nvSpPr>
          <p:cNvPr id="4" name="Rounded Rectangle 3"/>
          <p:cNvSpPr/>
          <p:nvPr/>
        </p:nvSpPr>
        <p:spPr>
          <a:xfrm>
            <a:off x="822960" y="3154680"/>
            <a:ext cx="5120640" cy="182880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Project background</a:t>
            </a:r>
          </a:p>
          <a:p>
            <a:pPr>
              <a:defRPr sz="1500">
                <a:solidFill>
                  <a:srgbClr val="232323"/>
                </a:solidFill>
                <a:latin typeface="Arial"/>
              </a:defRPr>
            </a:pPr>
            <a:r>
              <a:t>The abstract establishes the need for recommendation systems on platforms with large amounts of content and describes the use of user preferences, searching and sorting.</a:t>
            </a:r>
          </a:p>
        </p:txBody>
      </p:sp>
      <p:sp>
        <p:nvSpPr>
          <p:cNvPr id="5" name="Rounded Rectangle 4"/>
          <p:cNvSpPr/>
          <p:nvPr/>
        </p:nvSpPr>
        <p:spPr>
          <a:xfrm>
            <a:off x="6172200" y="3154680"/>
            <a:ext cx="5120640" cy="182880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For final submission</a:t>
            </a:r>
          </a:p>
          <a:p>
            <a:pPr>
              <a:defRPr sz="1500">
                <a:solidFill>
                  <a:srgbClr val="232323"/>
                </a:solidFill>
                <a:latin typeface="Arial"/>
              </a:defRPr>
            </a:pPr>
            <a:r>
              <a:t>Add 2–3 relevant research papers or articles on recommendation systems, search algorithms and ranking/sorting. Include author, year and the main contribution of each work.</a:t>
            </a:r>
          </a:p>
        </p:txBody>
      </p:sp>
      <p:sp>
        <p:nvSpPr>
          <p:cNvPr id="6" name="TextBox 5"/>
          <p:cNvSpPr txBox="1"/>
          <p:nvPr/>
        </p:nvSpPr>
        <p:spPr>
          <a:xfrm>
            <a:off x="548640" y="6473952"/>
            <a:ext cx="11064240" cy="201168"/>
          </a:xfrm>
          <a:prstGeom prst="rect">
            <a:avLst/>
          </a:prstGeom>
          <a:noFill/>
        </p:spPr>
        <p:txBody>
          <a:bodyPr wrap="none">
            <a:spAutoFit/>
          </a:bodyPr>
          <a:lstStyle/>
          <a:p>
            <a:pPr algn="ctr">
              <a:defRPr sz="850">
                <a:solidFill>
                  <a:srgbClr val="695246"/>
                </a:solidFill>
                <a:latin typeface="Arial"/>
              </a:defRPr>
            </a:pPr>
            <a:r>
              <a:t>Data Structures and Algorithms - 3 (25CS2103E)   |   Team 16   |   Slide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E4D8"/>
        </a:solidFill>
        <a:effectLst/>
      </p:bgPr>
    </p:bg>
    <p:spTree>
      <p:nvGrpSpPr>
        <p:cNvPr id="1" name=""/>
        <p:cNvGrpSpPr/>
        <p:nvPr/>
      </p:nvGrpSpPr>
      <p:grpSpPr>
        <a:xfrm>
          <a:off x="0" y="0"/>
          <a:ext cx="0" cy="0"/>
          <a:chOff x="0" y="0"/>
          <a:chExt cx="0" cy="0"/>
        </a:xfrm>
      </p:grpSpPr>
      <p:sp>
        <p:nvSpPr>
          <p:cNvPr id="2" name="Rounded Rectangle 1"/>
          <p:cNvSpPr/>
          <p:nvPr/>
        </p:nvSpPr>
        <p:spPr>
          <a:xfrm>
            <a:off x="502920" y="228600"/>
            <a:ext cx="11155680" cy="658368"/>
          </a:xfrm>
          <a:prstGeom prst="roundRect">
            <a:avLst/>
          </a:prstGeom>
          <a:solidFill>
            <a:srgbClr val="D62310"/>
          </a:solidFill>
          <a:ln>
            <a:solidFill>
              <a:srgbClr val="78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FFFFFF"/>
                </a:solidFill>
                <a:latin typeface="Georgia"/>
              </a:defRPr>
            </a:pPr>
            <a:r>
              <a:t>Problem Statement and Objectives</a:t>
            </a:r>
          </a:p>
        </p:txBody>
      </p:sp>
      <p:sp>
        <p:nvSpPr>
          <p:cNvPr id="3" name="Rounded Rectangle 2"/>
          <p:cNvSpPr/>
          <p:nvPr/>
        </p:nvSpPr>
        <p:spPr>
          <a:xfrm>
            <a:off x="731520" y="1234440"/>
            <a:ext cx="5303520" cy="425196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Problem Statement</a:t>
            </a:r>
          </a:p>
          <a:p>
            <a:pPr>
              <a:defRPr sz="1500">
                <a:solidFill>
                  <a:srgbClr val="232323"/>
                </a:solidFill>
                <a:latin typeface="Arial"/>
              </a:defRPr>
            </a:pPr>
            <a:r>
              <a:t>Users face difficulty finding relevant content when online platforms contain a large number of products, movies, courses, books or other items. A simple system is needed to reduce search effort and present useful matches.</a:t>
            </a:r>
          </a:p>
        </p:txBody>
      </p:sp>
      <p:sp>
        <p:nvSpPr>
          <p:cNvPr id="4" name="Rounded Rectangle 3"/>
          <p:cNvSpPr/>
          <p:nvPr/>
        </p:nvSpPr>
        <p:spPr>
          <a:xfrm>
            <a:off x="6217920" y="1234440"/>
            <a:ext cx="5303520" cy="425196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Objectives</a:t>
            </a:r>
          </a:p>
          <a:p>
            <a:pPr>
              <a:defRPr sz="1500">
                <a:solidFill>
                  <a:srgbClr val="232323"/>
                </a:solidFill>
                <a:latin typeface="Arial"/>
              </a:defRPr>
            </a:pPr>
            <a:r>
              <a:t>• Collect and use user interests</a:t>
            </a:r>
            <a:br/>
            <a:r>
              <a:t>• Store users and items using lists and dictionaries</a:t>
            </a:r>
            <a:br/>
            <a:r>
              <a:t>• Search for matching items efficiently</a:t>
            </a:r>
            <a:br/>
            <a:r>
              <a:t>• Sort matching items to show the best recommendations</a:t>
            </a:r>
            <a:br/>
            <a:r>
              <a:t>• Reduce the time needed to find useful content</a:t>
            </a:r>
            <a:br/>
            <a:r>
              <a:t>• Improve the overall user experience</a:t>
            </a:r>
          </a:p>
        </p:txBody>
      </p:sp>
      <p:sp>
        <p:nvSpPr>
          <p:cNvPr id="5" name="TextBox 4"/>
          <p:cNvSpPr txBox="1"/>
          <p:nvPr/>
        </p:nvSpPr>
        <p:spPr>
          <a:xfrm>
            <a:off x="548640" y="6473952"/>
            <a:ext cx="11064240" cy="201168"/>
          </a:xfrm>
          <a:prstGeom prst="rect">
            <a:avLst/>
          </a:prstGeom>
          <a:noFill/>
        </p:spPr>
        <p:txBody>
          <a:bodyPr wrap="none">
            <a:spAutoFit/>
          </a:bodyPr>
          <a:lstStyle/>
          <a:p>
            <a:pPr algn="ctr">
              <a:defRPr sz="850">
                <a:solidFill>
                  <a:srgbClr val="695246"/>
                </a:solidFill>
                <a:latin typeface="Arial"/>
              </a:defRPr>
            </a:pPr>
            <a:r>
              <a:t>Data Structures and Algorithms - 3 (25CS2103E)   |   Team 16   |   Slide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E4D8"/>
        </a:solidFill>
        <a:effectLst/>
      </p:bgPr>
    </p:bg>
    <p:spTree>
      <p:nvGrpSpPr>
        <p:cNvPr id="1" name=""/>
        <p:cNvGrpSpPr/>
        <p:nvPr/>
      </p:nvGrpSpPr>
      <p:grpSpPr>
        <a:xfrm>
          <a:off x="0" y="0"/>
          <a:ext cx="0" cy="0"/>
          <a:chOff x="0" y="0"/>
          <a:chExt cx="0" cy="0"/>
        </a:xfrm>
      </p:grpSpPr>
      <p:sp>
        <p:nvSpPr>
          <p:cNvPr id="2" name="Rounded Rectangle 1"/>
          <p:cNvSpPr/>
          <p:nvPr/>
        </p:nvSpPr>
        <p:spPr>
          <a:xfrm>
            <a:off x="502920" y="228600"/>
            <a:ext cx="11155680" cy="658368"/>
          </a:xfrm>
          <a:prstGeom prst="roundRect">
            <a:avLst/>
          </a:prstGeom>
          <a:solidFill>
            <a:srgbClr val="D62310"/>
          </a:solidFill>
          <a:ln>
            <a:solidFill>
              <a:srgbClr val="78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FFFFFF"/>
                </a:solidFill>
                <a:latin typeface="Georgia"/>
              </a:defRPr>
            </a:pPr>
            <a:r>
              <a:t>Hardware and Software Requirements</a:t>
            </a:r>
          </a:p>
        </p:txBody>
      </p:sp>
      <p:sp>
        <p:nvSpPr>
          <p:cNvPr id="3" name="Rounded Rectangle 2"/>
          <p:cNvSpPr/>
          <p:nvPr/>
        </p:nvSpPr>
        <p:spPr>
          <a:xfrm>
            <a:off x="822960" y="1325880"/>
            <a:ext cx="5166360" cy="411480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Software Requirements</a:t>
            </a:r>
          </a:p>
          <a:p>
            <a:pPr>
              <a:defRPr sz="1500">
                <a:solidFill>
                  <a:srgbClr val="232323"/>
                </a:solidFill>
                <a:latin typeface="Arial"/>
              </a:defRPr>
            </a:pPr>
            <a:r>
              <a:t>Operating System: Windows 10 or Windows 11</a:t>
            </a:r>
            <a:br/>
            <a:br/>
            <a:r>
              <a:t>Programming Language: Python 3</a:t>
            </a:r>
            <a:br/>
            <a:br/>
            <a:r>
              <a:t>IDE: Visual Studio Code or PyCharm</a:t>
            </a:r>
          </a:p>
        </p:txBody>
      </p:sp>
      <p:sp>
        <p:nvSpPr>
          <p:cNvPr id="4" name="Rounded Rectangle 3"/>
          <p:cNvSpPr/>
          <p:nvPr/>
        </p:nvSpPr>
        <p:spPr>
          <a:xfrm>
            <a:off x="6217920" y="1325880"/>
            <a:ext cx="5166360" cy="411480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Hardware Requirements</a:t>
            </a:r>
          </a:p>
          <a:p>
            <a:pPr>
              <a:defRPr sz="1500">
                <a:solidFill>
                  <a:srgbClr val="232323"/>
                </a:solidFill>
                <a:latin typeface="Arial"/>
              </a:defRPr>
            </a:pPr>
            <a:r>
              <a:t>Processor: Intel Core i3 or above</a:t>
            </a:r>
            <a:br/>
            <a:br/>
            <a:r>
              <a:t>RAM: 4 GB or above</a:t>
            </a:r>
            <a:br/>
            <a:br/>
            <a:r>
              <a:t>Hard Disk: 100 MB free space</a:t>
            </a:r>
            <a:br/>
            <a:br/>
            <a:r>
              <a:t>Keyboard, Mouse and Monitor</a:t>
            </a:r>
          </a:p>
        </p:txBody>
      </p:sp>
      <p:sp>
        <p:nvSpPr>
          <p:cNvPr id="5" name="TextBox 4"/>
          <p:cNvSpPr txBox="1"/>
          <p:nvPr/>
        </p:nvSpPr>
        <p:spPr>
          <a:xfrm>
            <a:off x="548640" y="6473952"/>
            <a:ext cx="11064240" cy="201168"/>
          </a:xfrm>
          <a:prstGeom prst="rect">
            <a:avLst/>
          </a:prstGeom>
          <a:noFill/>
        </p:spPr>
        <p:txBody>
          <a:bodyPr wrap="none">
            <a:spAutoFit/>
          </a:bodyPr>
          <a:lstStyle/>
          <a:p>
            <a:pPr algn="ctr">
              <a:defRPr sz="850">
                <a:solidFill>
                  <a:srgbClr val="695246"/>
                </a:solidFill>
                <a:latin typeface="Arial"/>
              </a:defRPr>
            </a:pPr>
            <a:r>
              <a:t>Data Structures and Algorithms - 3 (25CS2103E)   |   Team 16   |   Slide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E4D8"/>
        </a:solidFill>
        <a:effectLst/>
      </p:bgPr>
    </p:bg>
    <p:spTree>
      <p:nvGrpSpPr>
        <p:cNvPr id="1" name=""/>
        <p:cNvGrpSpPr/>
        <p:nvPr/>
      </p:nvGrpSpPr>
      <p:grpSpPr>
        <a:xfrm>
          <a:off x="0" y="0"/>
          <a:ext cx="0" cy="0"/>
          <a:chOff x="0" y="0"/>
          <a:chExt cx="0" cy="0"/>
        </a:xfrm>
      </p:grpSpPr>
      <p:sp>
        <p:nvSpPr>
          <p:cNvPr id="2" name="Rounded Rectangle 1"/>
          <p:cNvSpPr/>
          <p:nvPr/>
        </p:nvSpPr>
        <p:spPr>
          <a:xfrm>
            <a:off x="502920" y="228600"/>
            <a:ext cx="11155680" cy="658368"/>
          </a:xfrm>
          <a:prstGeom prst="roundRect">
            <a:avLst/>
          </a:prstGeom>
          <a:solidFill>
            <a:srgbClr val="D62310"/>
          </a:solidFill>
          <a:ln>
            <a:solidFill>
              <a:srgbClr val="78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FFFFFF"/>
                </a:solidFill>
                <a:latin typeface="Georgia"/>
              </a:defRPr>
            </a:pPr>
            <a:r>
              <a:t>Results</a:t>
            </a:r>
          </a:p>
        </p:txBody>
      </p:sp>
      <p:sp>
        <p:nvSpPr>
          <p:cNvPr id="3" name="Rounded Rectangle 2"/>
          <p:cNvSpPr/>
          <p:nvPr/>
        </p:nvSpPr>
        <p:spPr>
          <a:xfrm>
            <a:off x="731520" y="1325880"/>
            <a:ext cx="10789920" cy="146304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Recommendation Process</a:t>
            </a:r>
          </a:p>
          <a:p>
            <a:pPr>
              <a:defRPr sz="1500">
                <a:solidFill>
                  <a:srgbClr val="232323"/>
                </a:solidFill>
                <a:latin typeface="Arial"/>
              </a:defRPr>
            </a:pPr>
            <a:r>
              <a:t>User selects interests → system finds matching items → matching items are sorted → recommendations are displayed.</a:t>
            </a:r>
          </a:p>
        </p:txBody>
      </p:sp>
      <p:sp>
        <p:nvSpPr>
          <p:cNvPr id="4" name="Rounded Rectangle 3"/>
          <p:cNvSpPr/>
          <p:nvPr/>
        </p:nvSpPr>
        <p:spPr>
          <a:xfrm>
            <a:off x="777240" y="3246120"/>
            <a:ext cx="1600200" cy="1051560"/>
          </a:xfrm>
          <a:prstGeom prst="roundRect">
            <a:avLst/>
          </a:prstGeom>
          <a:solidFill>
            <a:srgbClr val="FFFFFF"/>
          </a:solidFill>
          <a:ln>
            <a:solidFill>
              <a:srgbClr val="D6231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2323"/>
                </a:solidFill>
                <a:latin typeface="Arial"/>
              </a:defRPr>
            </a:pPr>
            <a:r>
              <a:t>User</a:t>
            </a:r>
            <a:br/>
            <a:r>
              <a:t>Interests</a:t>
            </a:r>
          </a:p>
        </p:txBody>
      </p:sp>
      <p:sp>
        <p:nvSpPr>
          <p:cNvPr id="5" name="Rounded Rectangle 4"/>
          <p:cNvSpPr/>
          <p:nvPr/>
        </p:nvSpPr>
        <p:spPr>
          <a:xfrm>
            <a:off x="3246120" y="3246120"/>
            <a:ext cx="1600200" cy="1051560"/>
          </a:xfrm>
          <a:prstGeom prst="roundRect">
            <a:avLst/>
          </a:prstGeom>
          <a:solidFill>
            <a:srgbClr val="FFFFFF"/>
          </a:solidFill>
          <a:ln>
            <a:solidFill>
              <a:srgbClr val="D6231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2323"/>
                </a:solidFill>
                <a:latin typeface="Arial"/>
              </a:defRPr>
            </a:pPr>
            <a:r>
              <a:t>Lists /</a:t>
            </a:r>
            <a:br/>
            <a:r>
              <a:t>Dictionaries</a:t>
            </a:r>
          </a:p>
        </p:txBody>
      </p:sp>
      <p:sp>
        <p:nvSpPr>
          <p:cNvPr id="6" name="Rounded Rectangle 5"/>
          <p:cNvSpPr/>
          <p:nvPr/>
        </p:nvSpPr>
        <p:spPr>
          <a:xfrm>
            <a:off x="5715000" y="3246120"/>
            <a:ext cx="1600200" cy="1051560"/>
          </a:xfrm>
          <a:prstGeom prst="roundRect">
            <a:avLst/>
          </a:prstGeom>
          <a:solidFill>
            <a:srgbClr val="FFFFFF"/>
          </a:solidFill>
          <a:ln>
            <a:solidFill>
              <a:srgbClr val="D6231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2323"/>
                </a:solidFill>
                <a:latin typeface="Arial"/>
              </a:defRPr>
            </a:pPr>
            <a:r>
              <a:t>Search</a:t>
            </a:r>
            <a:br/>
            <a:r>
              <a:t>Matches</a:t>
            </a:r>
          </a:p>
        </p:txBody>
      </p:sp>
      <p:sp>
        <p:nvSpPr>
          <p:cNvPr id="7" name="Rounded Rectangle 6"/>
          <p:cNvSpPr/>
          <p:nvPr/>
        </p:nvSpPr>
        <p:spPr>
          <a:xfrm>
            <a:off x="8183879" y="3246120"/>
            <a:ext cx="1600200" cy="1051560"/>
          </a:xfrm>
          <a:prstGeom prst="roundRect">
            <a:avLst/>
          </a:prstGeom>
          <a:solidFill>
            <a:srgbClr val="FFFFFF"/>
          </a:solidFill>
          <a:ln>
            <a:solidFill>
              <a:srgbClr val="D6231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2323"/>
                </a:solidFill>
                <a:latin typeface="Arial"/>
              </a:defRPr>
            </a:pPr>
            <a:r>
              <a:t>Sort</a:t>
            </a:r>
            <a:br/>
            <a:r>
              <a:t>Results</a:t>
            </a:r>
          </a:p>
        </p:txBody>
      </p:sp>
      <p:sp>
        <p:nvSpPr>
          <p:cNvPr id="8" name="Rounded Rectangle 7"/>
          <p:cNvSpPr/>
          <p:nvPr/>
        </p:nvSpPr>
        <p:spPr>
          <a:xfrm>
            <a:off x="10058400" y="3246120"/>
            <a:ext cx="1600200" cy="1051560"/>
          </a:xfrm>
          <a:prstGeom prst="roundRect">
            <a:avLst/>
          </a:prstGeom>
          <a:solidFill>
            <a:srgbClr val="FFFFFF"/>
          </a:solidFill>
          <a:ln>
            <a:solidFill>
              <a:srgbClr val="D6231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2323"/>
                </a:solidFill>
                <a:latin typeface="Arial"/>
              </a:defRPr>
            </a:pPr>
            <a:r>
              <a:t>Recommended</a:t>
            </a:r>
            <a:br/>
            <a:r>
              <a:t>Items</a:t>
            </a:r>
          </a:p>
        </p:txBody>
      </p:sp>
      <p:sp>
        <p:nvSpPr>
          <p:cNvPr id="9" name="Right Arrow 8"/>
          <p:cNvSpPr/>
          <p:nvPr/>
        </p:nvSpPr>
        <p:spPr>
          <a:xfrm>
            <a:off x="2487168" y="3520440"/>
            <a:ext cx="502920" cy="502920"/>
          </a:xfrm>
          <a:prstGeom prst="rightArrow">
            <a:avLst/>
          </a:prstGeom>
          <a:solidFill>
            <a:srgbClr val="D623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9"/>
          <p:cNvSpPr/>
          <p:nvPr/>
        </p:nvSpPr>
        <p:spPr>
          <a:xfrm>
            <a:off x="4956048" y="3520440"/>
            <a:ext cx="502920" cy="502920"/>
          </a:xfrm>
          <a:prstGeom prst="rightArrow">
            <a:avLst/>
          </a:prstGeom>
          <a:solidFill>
            <a:srgbClr val="D623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7424927" y="3520440"/>
            <a:ext cx="502920" cy="502920"/>
          </a:xfrm>
          <a:prstGeom prst="rightArrow">
            <a:avLst/>
          </a:prstGeom>
          <a:solidFill>
            <a:srgbClr val="D623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9857232" y="3520440"/>
            <a:ext cx="502920" cy="502920"/>
          </a:xfrm>
          <a:prstGeom prst="rightArrow">
            <a:avLst/>
          </a:prstGeom>
          <a:solidFill>
            <a:srgbClr val="D623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920240" y="4892040"/>
            <a:ext cx="8321040" cy="91440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Outcome stated in the abstract</a:t>
            </a:r>
          </a:p>
          <a:p>
            <a:pPr>
              <a:defRPr sz="1500">
                <a:solidFill>
                  <a:srgbClr val="232323"/>
                </a:solidFill>
                <a:latin typeface="Arial"/>
              </a:defRPr>
            </a:pPr>
            <a:r>
              <a:t>The approach is intended to make recommendations faster and more efficient, while improving the user's experience.</a:t>
            </a:r>
          </a:p>
        </p:txBody>
      </p:sp>
      <p:sp>
        <p:nvSpPr>
          <p:cNvPr id="14" name="TextBox 13"/>
          <p:cNvSpPr txBox="1"/>
          <p:nvPr/>
        </p:nvSpPr>
        <p:spPr>
          <a:xfrm>
            <a:off x="548640" y="6473952"/>
            <a:ext cx="11064240" cy="201168"/>
          </a:xfrm>
          <a:prstGeom prst="rect">
            <a:avLst/>
          </a:prstGeom>
          <a:noFill/>
        </p:spPr>
        <p:txBody>
          <a:bodyPr wrap="none">
            <a:spAutoFit/>
          </a:bodyPr>
          <a:lstStyle/>
          <a:p>
            <a:pPr algn="ctr">
              <a:defRPr sz="850">
                <a:solidFill>
                  <a:srgbClr val="695246"/>
                </a:solidFill>
                <a:latin typeface="Arial"/>
              </a:defRPr>
            </a:pPr>
            <a:r>
              <a:t>Data Structures and Algorithms - 3 (25CS2103E)   |   Team 16   |   Slide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E4D8"/>
        </a:solidFill>
        <a:effectLst/>
      </p:bgPr>
    </p:bg>
    <p:spTree>
      <p:nvGrpSpPr>
        <p:cNvPr id="1" name=""/>
        <p:cNvGrpSpPr/>
        <p:nvPr/>
      </p:nvGrpSpPr>
      <p:grpSpPr>
        <a:xfrm>
          <a:off x="0" y="0"/>
          <a:ext cx="0" cy="0"/>
          <a:chOff x="0" y="0"/>
          <a:chExt cx="0" cy="0"/>
        </a:xfrm>
      </p:grpSpPr>
      <p:sp>
        <p:nvSpPr>
          <p:cNvPr id="2" name="Rounded Rectangle 1"/>
          <p:cNvSpPr/>
          <p:nvPr/>
        </p:nvSpPr>
        <p:spPr>
          <a:xfrm>
            <a:off x="502920" y="228600"/>
            <a:ext cx="11155680" cy="658368"/>
          </a:xfrm>
          <a:prstGeom prst="roundRect">
            <a:avLst/>
          </a:prstGeom>
          <a:solidFill>
            <a:srgbClr val="D62310"/>
          </a:solidFill>
          <a:ln>
            <a:solidFill>
              <a:srgbClr val="78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FFFFFF"/>
                </a:solidFill>
                <a:latin typeface="Georgia"/>
              </a:defRPr>
            </a:pPr>
            <a:r>
              <a:t>Conclusion</a:t>
            </a:r>
          </a:p>
        </p:txBody>
      </p:sp>
      <p:sp>
        <p:nvSpPr>
          <p:cNvPr id="3" name="TextBox 2"/>
          <p:cNvSpPr txBox="1"/>
          <p:nvPr/>
        </p:nvSpPr>
        <p:spPr>
          <a:xfrm>
            <a:off x="868680" y="1280160"/>
            <a:ext cx="10515600" cy="4846320"/>
          </a:xfrm>
          <a:prstGeom prst="rect">
            <a:avLst/>
          </a:prstGeom>
          <a:noFill/>
        </p:spPr>
        <p:txBody>
          <a:bodyPr wrap="square">
            <a:spAutoFit/>
          </a:bodyPr>
          <a:lstStyle/>
          <a:p>
            <a:pPr>
              <a:spcAft>
                <a:spcPts val="1400"/>
              </a:spcAft>
              <a:defRPr sz="1800">
                <a:solidFill>
                  <a:srgbClr val="232323"/>
                </a:solidFill>
                <a:latin typeface="Arial"/>
              </a:defRPr>
            </a:pPr>
            <a:r>
              <a:t>• The Recommendation Engine addresses the problem of finding relevant items in large collections of online content.</a:t>
            </a:r>
          </a:p>
          <a:p>
            <a:pPr>
              <a:spcAft>
                <a:spcPts val="1400"/>
              </a:spcAft>
              <a:defRPr sz="1800">
                <a:solidFill>
                  <a:srgbClr val="232323"/>
                </a:solidFill>
                <a:latin typeface="Arial"/>
              </a:defRPr>
            </a:pPr>
            <a:r>
              <a:t>• Lists and dictionaries provide simple ways to store user information and available items.</a:t>
            </a:r>
          </a:p>
          <a:p>
            <a:pPr>
              <a:spcAft>
                <a:spcPts val="1400"/>
              </a:spcAft>
              <a:defRPr sz="1800">
                <a:solidFill>
                  <a:srgbClr val="232323"/>
                </a:solidFill>
                <a:latin typeface="Arial"/>
              </a:defRPr>
            </a:pPr>
            <a:r>
              <a:t>• Searching identifies items that match user interests, while sorting helps present suitable recommendations.</a:t>
            </a:r>
          </a:p>
          <a:p>
            <a:pPr>
              <a:spcAft>
                <a:spcPts val="1400"/>
              </a:spcAft>
              <a:defRPr sz="1800">
                <a:solidFill>
                  <a:srgbClr val="232323"/>
                </a:solidFill>
                <a:latin typeface="Arial"/>
              </a:defRPr>
            </a:pPr>
            <a:r>
              <a:t>• The project demonstrates a practical application of data structures and algorithms in a real-world scenario.</a:t>
            </a:r>
          </a:p>
          <a:p>
            <a:pPr>
              <a:spcAft>
                <a:spcPts val="1400"/>
              </a:spcAft>
              <a:defRPr sz="1800">
                <a:solidFill>
                  <a:srgbClr val="232323"/>
                </a:solidFill>
                <a:latin typeface="Arial"/>
              </a:defRPr>
            </a:pPr>
            <a:r>
              <a:t>• The approach is simple, easy to understand, and focused on improving recommendation speed and user experience.</a:t>
            </a:r>
          </a:p>
        </p:txBody>
      </p:sp>
      <p:sp>
        <p:nvSpPr>
          <p:cNvPr id="4" name="TextBox 3"/>
          <p:cNvSpPr txBox="1"/>
          <p:nvPr/>
        </p:nvSpPr>
        <p:spPr>
          <a:xfrm>
            <a:off x="548640" y="6473952"/>
            <a:ext cx="11064240" cy="201168"/>
          </a:xfrm>
          <a:prstGeom prst="rect">
            <a:avLst/>
          </a:prstGeom>
          <a:noFill/>
        </p:spPr>
        <p:txBody>
          <a:bodyPr wrap="none">
            <a:spAutoFit/>
          </a:bodyPr>
          <a:lstStyle/>
          <a:p>
            <a:pPr algn="ctr">
              <a:defRPr sz="850">
                <a:solidFill>
                  <a:srgbClr val="695246"/>
                </a:solidFill>
                <a:latin typeface="Arial"/>
              </a:defRPr>
            </a:pPr>
            <a:r>
              <a:t>Data Structures and Algorithms - 3 (25CS2103E)   |   Team 16   |   Slide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E4D8"/>
        </a:solidFill>
        <a:effectLst/>
      </p:bgPr>
    </p:bg>
    <p:spTree>
      <p:nvGrpSpPr>
        <p:cNvPr id="1" name=""/>
        <p:cNvGrpSpPr/>
        <p:nvPr/>
      </p:nvGrpSpPr>
      <p:grpSpPr>
        <a:xfrm>
          <a:off x="0" y="0"/>
          <a:ext cx="0" cy="0"/>
          <a:chOff x="0" y="0"/>
          <a:chExt cx="0" cy="0"/>
        </a:xfrm>
      </p:grpSpPr>
      <p:sp>
        <p:nvSpPr>
          <p:cNvPr id="2" name="Rounded Rectangle 1"/>
          <p:cNvSpPr/>
          <p:nvPr/>
        </p:nvSpPr>
        <p:spPr>
          <a:xfrm>
            <a:off x="502920" y="228600"/>
            <a:ext cx="11155680" cy="658368"/>
          </a:xfrm>
          <a:prstGeom prst="roundRect">
            <a:avLst/>
          </a:prstGeom>
          <a:solidFill>
            <a:srgbClr val="D62310"/>
          </a:solidFill>
          <a:ln>
            <a:solidFill>
              <a:srgbClr val="78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FFFFFF"/>
                </a:solidFill>
                <a:latin typeface="Georgia"/>
              </a:defRPr>
            </a:pPr>
            <a:r>
              <a:t>Future Scope</a:t>
            </a:r>
          </a:p>
        </p:txBody>
      </p:sp>
      <p:sp>
        <p:nvSpPr>
          <p:cNvPr id="3" name="Rounded Rectangle 2"/>
          <p:cNvSpPr/>
          <p:nvPr/>
        </p:nvSpPr>
        <p:spPr>
          <a:xfrm>
            <a:off x="822960" y="1325880"/>
            <a:ext cx="5166360" cy="132588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Scalability</a:t>
            </a:r>
          </a:p>
          <a:p>
            <a:pPr>
              <a:defRPr sz="1500">
                <a:solidFill>
                  <a:srgbClr val="232323"/>
                </a:solidFill>
                <a:latin typeface="Arial"/>
              </a:defRPr>
            </a:pPr>
            <a:r>
              <a:t>Support more users and a larger collection of items.</a:t>
            </a:r>
          </a:p>
        </p:txBody>
      </p:sp>
      <p:sp>
        <p:nvSpPr>
          <p:cNvPr id="4" name="Rounded Rectangle 3"/>
          <p:cNvSpPr/>
          <p:nvPr/>
        </p:nvSpPr>
        <p:spPr>
          <a:xfrm>
            <a:off x="6217920" y="1325880"/>
            <a:ext cx="5166360" cy="132588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More Data</a:t>
            </a:r>
          </a:p>
          <a:p>
            <a:pPr>
              <a:defRPr sz="1500">
                <a:solidFill>
                  <a:srgbClr val="232323"/>
                </a:solidFill>
                <a:latin typeface="Arial"/>
              </a:defRPr>
            </a:pPr>
            <a:r>
              <a:t>Use additional user and item information to improve recommendation quality.</a:t>
            </a:r>
          </a:p>
        </p:txBody>
      </p:sp>
      <p:sp>
        <p:nvSpPr>
          <p:cNvPr id="5" name="Rounded Rectangle 4"/>
          <p:cNvSpPr/>
          <p:nvPr/>
        </p:nvSpPr>
        <p:spPr>
          <a:xfrm>
            <a:off x="822960" y="2971800"/>
            <a:ext cx="5166360" cy="160020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Better Recommendation Methods</a:t>
            </a:r>
          </a:p>
          <a:p>
            <a:pPr>
              <a:defRPr sz="1500">
                <a:solidFill>
                  <a:srgbClr val="232323"/>
                </a:solidFill>
                <a:latin typeface="Arial"/>
              </a:defRPr>
            </a:pPr>
            <a:r>
              <a:t>Extend the basic approach with more advanced recommendation techniques.</a:t>
            </a:r>
          </a:p>
        </p:txBody>
      </p:sp>
      <p:sp>
        <p:nvSpPr>
          <p:cNvPr id="6" name="Rounded Rectangle 5"/>
          <p:cNvSpPr/>
          <p:nvPr/>
        </p:nvSpPr>
        <p:spPr>
          <a:xfrm>
            <a:off x="6217920" y="2971800"/>
            <a:ext cx="5166360" cy="160020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Improved User Experience</a:t>
            </a:r>
          </a:p>
          <a:p>
            <a:pPr>
              <a:defRPr sz="1500">
                <a:solidFill>
                  <a:srgbClr val="232323"/>
                </a:solidFill>
                <a:latin typeface="Arial"/>
              </a:defRPr>
            </a:pPr>
            <a:r>
              <a:t>Provide more relevant recommendations in less time as the system grows.</a:t>
            </a:r>
          </a:p>
        </p:txBody>
      </p:sp>
      <p:sp>
        <p:nvSpPr>
          <p:cNvPr id="7" name="Rounded Rectangle 6"/>
          <p:cNvSpPr/>
          <p:nvPr/>
        </p:nvSpPr>
        <p:spPr>
          <a:xfrm>
            <a:off x="2011680" y="4892040"/>
            <a:ext cx="8183879" cy="914400"/>
          </a:xfrm>
          <a:prstGeom prst="roundRect">
            <a:avLst/>
          </a:prstGeom>
          <a:solidFill>
            <a:srgbClr val="FFF4EE"/>
          </a:solidFill>
          <a:ln>
            <a:solidFill>
              <a:srgbClr val="F7CDC1"/>
            </a:solidFill>
          </a:ln>
        </p:spPr>
        <p:style>
          <a:lnRef idx="1">
            <a:schemeClr val="accent1"/>
          </a:lnRef>
          <a:fillRef idx="3">
            <a:schemeClr val="accent1"/>
          </a:fillRef>
          <a:effectRef idx="2">
            <a:schemeClr val="accent1"/>
          </a:effectRef>
          <a:fontRef idx="minor">
            <a:schemeClr val="lt1"/>
          </a:fontRef>
        </p:style>
        <p:txBody>
          <a:bodyPr lIns="164592" tIns="128016" rIns="164592" rtlCol="0" anchor="ctr"/>
          <a:lstStyle/>
          <a:p>
            <a:pPr algn="ctr">
              <a:spcAft>
                <a:spcPts val="800"/>
              </a:spcAft>
              <a:defRPr sz="1800" b="1">
                <a:solidFill>
                  <a:srgbClr val="D62310"/>
                </a:solidFill>
                <a:latin typeface="Georgia"/>
              </a:defRPr>
            </a:pPr>
            <a:r>
              <a:t>Final Direction</a:t>
            </a:r>
          </a:p>
          <a:p>
            <a:pPr>
              <a:defRPr sz="1500">
                <a:solidFill>
                  <a:srgbClr val="232323"/>
                </a:solidFill>
                <a:latin typeface="Arial"/>
              </a:defRPr>
            </a:pPr>
            <a:r>
              <a:t>The project can be expanded from a simple data-structure-based system into a larger and more intelligent recommendation platform.</a:t>
            </a:r>
          </a:p>
        </p:txBody>
      </p:sp>
      <p:sp>
        <p:nvSpPr>
          <p:cNvPr id="8" name="TextBox 7"/>
          <p:cNvSpPr txBox="1"/>
          <p:nvPr/>
        </p:nvSpPr>
        <p:spPr>
          <a:xfrm>
            <a:off x="548640" y="6473952"/>
            <a:ext cx="11064240" cy="201168"/>
          </a:xfrm>
          <a:prstGeom prst="rect">
            <a:avLst/>
          </a:prstGeom>
          <a:noFill/>
        </p:spPr>
        <p:txBody>
          <a:bodyPr wrap="none">
            <a:spAutoFit/>
          </a:bodyPr>
          <a:lstStyle/>
          <a:p>
            <a:pPr algn="ctr">
              <a:defRPr sz="850">
                <a:solidFill>
                  <a:srgbClr val="695246"/>
                </a:solidFill>
                <a:latin typeface="Arial"/>
              </a:defRPr>
            </a:pPr>
            <a:r>
              <a:t>Data Structures and Algorithms - 3 (25CS2103E)   |   Team 16   |   Slide 10</a:t>
            </a:r>
          </a:p>
        </p:txBody>
      </p:sp>
    </p:spTree>
  </p:cSld>
  <p:clrMapOvr>
    <a:masterClrMapping/>
  </p:clrMapOvr>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7A434096-21D7-44B8-8536-5670F4990977}" vid="{9E2B180D-3A1B-4983-B64A-9C133C18DC91}"/>
    </a:ext>
  </a:extLst>
</a:theme>
</file>

<file path=docProps/app.xml><?xml version="1.0" encoding="utf-8"?>
<Properties xmlns="http://schemas.openxmlformats.org/officeDocument/2006/extended-properties" xmlns:vt="http://schemas.openxmlformats.org/officeDocument/2006/docPropsVTypes">
  <Template>Dune</Template>
  <TotalTime>8</TotalTime>
  <Words>884</Words>
  <Application>Microsoft Office PowerPoint</Application>
  <PresentationFormat>Widescreen</PresentationFormat>
  <Paragraphs>80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Neue Haas Grotesk Text Pro</vt:lpstr>
      <vt:lpstr>Dune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Varun Teja</cp:lastModifiedBy>
  <cp:revision>2</cp:revision>
  <dcterms:created xsi:type="dcterms:W3CDTF">2013-01-27T09:14:16Z</dcterms:created>
  <dcterms:modified xsi:type="dcterms:W3CDTF">2026-08-20T03:28:48Z</dcterms:modified>
  <cp:category/>
</cp:coreProperties>
</file>